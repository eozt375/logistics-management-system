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embeddedFontLst>
    <p:embeddedFont>
      <p:font typeface="Cabin" panose="020B0604020202020204" charset="-94"/>
      <p:regular r:id="rId11"/>
    </p:embeddedFont>
    <p:embeddedFont>
      <p:font typeface="Unbounded" panose="020B0604020202020204" charset="-94"/>
      <p:regular r:id="rId12"/>
    </p:embeddedFont>
  </p:embeddedFont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1556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520577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Lojistik Yönetim Sistemi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460427"/>
            <a:ext cx="365819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Ders: Veri </a:t>
            </a:r>
            <a:r>
              <a:rPr lang="en-US" sz="140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Yapıları</a:t>
            </a: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40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</a:t>
            </a: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40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Algoritmalar</a:t>
            </a:r>
            <a:endParaRPr lang="en-US" sz="1400" dirty="0"/>
          </a:p>
          <a:p>
            <a:pPr marL="0" indent="0" algn="l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904752"/>
            <a:ext cx="4667845" cy="1357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tr-TR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 </a:t>
            </a:r>
            <a:r>
              <a:rPr lang="tr-TR" sz="11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Soyad</a:t>
            </a:r>
            <a:r>
              <a:rPr lang="tr-TR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Enes Muhammet Öztürk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Öğrenci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No: </a:t>
            </a:r>
            <a:r>
              <a:rPr lang="tr-TR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12505050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64</a:t>
            </a:r>
            <a:endParaRPr lang="tr-TR" sz="11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ts val="1850"/>
              </a:lnSpc>
              <a:buNone/>
            </a:pPr>
            <a:endParaRPr lang="tr-TR" sz="11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| Hash Fonksiyonu: Tip A —</a:t>
            </a:r>
            <a:r>
              <a:rPr lang="en-US" sz="11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Çakışma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Çözümü: Açık </a:t>
            </a:r>
            <a:r>
              <a:rPr lang="en-US" sz="11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Adresleme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| Graf Gezinme: BFS (</a:t>
            </a:r>
            <a:endParaRPr lang="tr-TR" sz="11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Ders: Veri Yapıları ve Algoritmalar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392" y="443805"/>
            <a:ext cx="4003179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Projeye Genel Bakış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5392" y="1166887"/>
            <a:ext cx="8113216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Bir lojistik firmasının şehirler arası kargo ağını yönetmek için iki temel veri yapısı hibrit olarak kullanılmıştır.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5392" y="1563663"/>
            <a:ext cx="3984129" cy="2119685"/>
          </a:xfrm>
          <a:prstGeom prst="roundRect">
            <a:avLst>
              <a:gd name="adj" fmla="val 104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62657" y="1710928"/>
            <a:ext cx="441796" cy="441796"/>
          </a:xfrm>
          <a:prstGeom prst="roundRect">
            <a:avLst>
              <a:gd name="adj" fmla="val 12934541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175" y="1832446"/>
            <a:ext cx="198760" cy="198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657" y="2297683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Graf Yapısı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62657" y="2601144"/>
            <a:ext cx="3689598" cy="934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Şehirler arası yolları ve mesafeleri temsil eder. Şehirler düğüm (vertex), yollar ise ağırlıklı kenar (edge) olarak modellenir. Komşuluk listesi (adjacency list) tercih edilmiştir çünkü seyrek graflarda bellek açısından daha verimlidir.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44479" y="1563663"/>
            <a:ext cx="3984129" cy="2119685"/>
          </a:xfrm>
          <a:prstGeom prst="roundRect">
            <a:avLst>
              <a:gd name="adj" fmla="val 104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791745" y="1710928"/>
            <a:ext cx="441796" cy="441796"/>
          </a:xfrm>
          <a:prstGeom prst="roundRect">
            <a:avLst>
              <a:gd name="adj" fmla="val 12934541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3263" y="1832446"/>
            <a:ext cx="198760" cy="198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745" y="2297683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Hash Tablosu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91745" y="2601144"/>
            <a:ext cx="3689598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Paket bilgilerinin hızlı sorgulanması için kullanılır. Paket ID'si anahtar, paket detayları ise değer olarak saklanır. Ortalama O(1) arama süresi sağlar.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15392" y="3846388"/>
            <a:ext cx="8113216" cy="853232"/>
          </a:xfrm>
          <a:prstGeom prst="roundRect">
            <a:avLst>
              <a:gd name="adj" fmla="val 2589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57" y="4068217"/>
            <a:ext cx="184026" cy="1472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3949" y="4028108"/>
            <a:ext cx="7487394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Neden Hibrit?</a:t>
            </a:r>
            <a:r>
              <a:rPr lang="en-US" sz="11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Paket teslim sürecinde iki farklı ihtiyaç aynı anda karşılanmaktadır: "Bu paket nerede?" sorusuna hash tablosu anlık cevap verirken, "Bu paketi hedefe nasıl göndeririz?" sorusuna graf ve BFS algoritması cevap verir.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538" y="430411"/>
            <a:ext cx="319020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Dosya Yapısı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4538" y="878235"/>
            <a:ext cx="2042517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Çoklu Dosya Mimarisi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4538" y="1261914"/>
            <a:ext cx="819492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Proje mantıksal katmanlarına göre ayrılmış 6 dosyadan oluşmaktadır: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4538" y="1606823"/>
            <a:ext cx="8194923" cy="2554635"/>
          </a:xfrm>
          <a:prstGeom prst="roundRect">
            <a:avLst>
              <a:gd name="adj" fmla="val 79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79301" y="1611585"/>
            <a:ext cx="8185398" cy="3635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14883" y="1690018"/>
            <a:ext cx="381915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Dosya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09964" y="1690018"/>
            <a:ext cx="381915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İçerik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9301" y="1975172"/>
            <a:ext cx="8185398" cy="3635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14883" y="2053605"/>
            <a:ext cx="381915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include/hash_table.h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964" y="2053605"/>
            <a:ext cx="381915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Paket struct tanımı, hash fonksiyon prototipleri, enum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9301" y="2338760"/>
            <a:ext cx="8185398" cy="3635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14883" y="2417192"/>
            <a:ext cx="381915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include/graph.h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964" y="2417192"/>
            <a:ext cx="381915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Graf ve komşuluk struct tanımları, BFS prototipleri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9301" y="2702347"/>
            <a:ext cx="8185398" cy="3635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14883" y="2780779"/>
            <a:ext cx="381915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src/hash_table.c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964" y="2780779"/>
            <a:ext cx="381915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Tip A hash implementasyonu, linear probing, tombstone silme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9301" y="3065934"/>
            <a:ext cx="8185398" cy="3635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14883" y="3144366"/>
            <a:ext cx="381915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src/graph.c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964" y="3144366"/>
            <a:ext cx="381915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Graf kurulumu, kenar ekleme, BFS algoritması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9301" y="3429521"/>
            <a:ext cx="8185398" cy="3635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14883" y="3507953"/>
            <a:ext cx="381915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src/main.c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964" y="3507953"/>
            <a:ext cx="381915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 program, test senaryosu, bellek raporu çağrıları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9301" y="3793108"/>
            <a:ext cx="8185398" cy="3635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14883" y="3871540"/>
            <a:ext cx="381915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Makefile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964" y="3871540"/>
            <a:ext cx="381915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Derleme kuralları — make run ile çalıştırılır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4538" y="4299645"/>
            <a:ext cx="8194923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Önem: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Header dosyaları yalnızca tanımları ve prototipleri içerir; implementasyon detayları .c dosyalarında gizlidir. Bu sayede modüler ve bakımı kolay bir yapı elde edilir.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050" y="356815"/>
            <a:ext cx="4057204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Hash Fonksiyonu: Tip 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3050" y="770706"/>
            <a:ext cx="1818456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Polinom Rolling Hash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73050" y="1211982"/>
            <a:ext cx="4795540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Neden Tip A?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Öğrenci numarası 64 </a:t>
            </a:r>
            <a:r>
              <a:rPr lang="en-US" sz="950" b="1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çifttir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Tip A uygulanır.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73050" y="1493937"/>
            <a:ext cx="4795540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Formül: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3050" y="1814810"/>
            <a:ext cx="479554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50" y="1814810"/>
            <a:ext cx="4795540" cy="4265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3050" y="2376115"/>
            <a:ext cx="4795540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Parametreler: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3050" y="2658070"/>
            <a:ext cx="4795540" cy="818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BASE = 31 → Küçük asal sayı; her karakterin katkısı benzersizdir, çakışma olasılığını düşürür</a:t>
            </a:r>
            <a:endParaRPr lang="en-US" sz="9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TABLE_SIZE = 11 → Asal sayı seçilmesi hash değerlerinin tabloya eşit dağılmasını sağlar</a:t>
            </a:r>
            <a:endParaRPr lang="en-US" sz="9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Hesaplama karmaşıklığı: O(k) — k, anahtar dizisinin uzunluğudur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278" y="1438424"/>
            <a:ext cx="3094360" cy="175341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3050" y="3633936"/>
            <a:ext cx="4045669" cy="1152674"/>
          </a:xfrm>
          <a:prstGeom prst="roundRect">
            <a:avLst>
              <a:gd name="adj" fmla="val 5950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458763" y="3633936"/>
            <a:ext cx="57150" cy="1152674"/>
          </a:xfrm>
          <a:prstGeom prst="roundRect">
            <a:avLst>
              <a:gd name="adj" fmla="val 33133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9"/>
          <p:cNvSpPr/>
          <p:nvPr/>
        </p:nvSpPr>
        <p:spPr>
          <a:xfrm>
            <a:off x="656406" y="3774430"/>
            <a:ext cx="3071589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Örnek — "PKT001" için hash hesabı: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56406" y="4023940"/>
            <a:ext cx="3721819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'P'(80) × 31⁵ + 'K'(75) × 31⁴ + 'T'(84) × 31³ + '0'(48) × 31² + '0'(48) × 31¹ + '1'(49) × 31⁰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56406" y="4460007"/>
            <a:ext cx="3721819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Toplam mod 11 → </a:t>
            </a:r>
            <a:r>
              <a:rPr lang="en-US" sz="950" b="1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Sonuç: Slot 5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25206" y="3633936"/>
            <a:ext cx="4045744" cy="1152674"/>
          </a:xfrm>
          <a:prstGeom prst="roundRect">
            <a:avLst>
              <a:gd name="adj" fmla="val 5950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4610919" y="3633936"/>
            <a:ext cx="57150" cy="1152674"/>
          </a:xfrm>
          <a:prstGeom prst="roundRect">
            <a:avLst>
              <a:gd name="adj" fmla="val 33133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4"/>
          <p:cNvSpPr/>
          <p:nvPr/>
        </p:nvSpPr>
        <p:spPr>
          <a:xfrm>
            <a:off x="4808562" y="3774430"/>
            <a:ext cx="1522586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Tip A'nın avantajı: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808562" y="4023940"/>
            <a:ext cx="3721894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Karakter sırası önemlidir. "PKT001" ile "TKP001" farklı hash değerleri üretir. Bu özellik ID tabanlı sistemlerde çakışmayı minimize eder.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757" y="367829"/>
            <a:ext cx="293935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Çakışma Çözümü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00757" y="756419"/>
            <a:ext cx="261483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Açık Adresleme (Linear Probing)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0757" y="1074241"/>
            <a:ext cx="774241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Neden Açık Adresleme?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Öğrenci numarasının son rakamı </a:t>
            </a:r>
            <a:r>
              <a:rPr lang="en-US" sz="900" b="1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'tür → 0–4 arasında → </a:t>
            </a: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Açık Adresleme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uygulanır.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00757" y="1352401"/>
            <a:ext cx="774241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Formül: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00757" y="1643881"/>
            <a:ext cx="7742411" cy="209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57" y="1643881"/>
            <a:ext cx="7742411" cy="2090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0757" y="1973089"/>
            <a:ext cx="238423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00757" y="2161356"/>
            <a:ext cx="2517502" cy="14288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700757" y="2249537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i=0 ile başla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0757" y="2481858"/>
            <a:ext cx="2517502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h(k) hesapla, hedef slota bak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13212" y="1973089"/>
            <a:ext cx="238423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13212" y="2161356"/>
            <a:ext cx="2517502" cy="14288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3313212" y="2249537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Slot boşsa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13212" y="2481858"/>
            <a:ext cx="2517502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Paketi yerleştir, işlem bitti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25666" y="1973089"/>
            <a:ext cx="238423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25666" y="2161356"/>
            <a:ext cx="2517502" cy="14288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/>
          <p:nvPr/>
        </p:nvSpPr>
        <p:spPr>
          <a:xfrm>
            <a:off x="5925666" y="2249537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Slot doluysa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25666" y="2481858"/>
            <a:ext cx="2517502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i++ yap, bir sonraki slota geç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00757" y="2837483"/>
            <a:ext cx="238423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00757" y="3025750"/>
            <a:ext cx="3823692" cy="14288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19"/>
          <p:cNvSpPr/>
          <p:nvPr/>
        </p:nvSpPr>
        <p:spPr>
          <a:xfrm>
            <a:off x="700757" y="3113931"/>
            <a:ext cx="2225650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TABLE_SIZE kadar deneme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0757" y="3346252"/>
            <a:ext cx="3823692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Tablo dolu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19402" y="2837483"/>
            <a:ext cx="238423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619402" y="3025750"/>
            <a:ext cx="3823767" cy="14288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3"/>
          <p:cNvSpPr/>
          <p:nvPr/>
        </p:nvSpPr>
        <p:spPr>
          <a:xfrm>
            <a:off x="4619402" y="3113931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Arama sırasında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619402" y="3346252"/>
            <a:ext cx="3823767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Tombstone (-1) slotlar atlanır, boş slot görününce arama durur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00757" y="3713783"/>
            <a:ext cx="7742411" cy="783729"/>
          </a:xfrm>
          <a:prstGeom prst="roundRect">
            <a:avLst>
              <a:gd name="adj" fmla="val 2282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69" y="3882256"/>
            <a:ext cx="148977" cy="119211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088157" y="3838501"/>
            <a:ext cx="7235800" cy="51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Tombstone (Mezar Taşı) Mantığı:</a:t>
            </a:r>
            <a:r>
              <a:rPr lang="en-US" sz="9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Silme işleminde slot doğrudan "boş" yapılmaz; -1 (tombstone) olarak işaretlenir. Bunun sebebi: doğrudan boşaltmak, o slottan sonra yerleştirilen paketlerin bir daha bulunamaz hale gelmesine yol açar. Tombstone, "buradan geç ama aramaya devam et" sinyali verir.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00757" y="4604370"/>
            <a:ext cx="774241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Bellek Avantajı: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Zincir yöntemine (chaining) göre ek pointer belleği gerektirmez; tüm veriler tek bir dizi içinde tutulur.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2074" y="319832"/>
            <a:ext cx="2420169" cy="3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Graf Yapısı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32074" y="650602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Şehir Ağı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232074" y="1316906"/>
            <a:ext cx="3214390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Kullanılan Yapı:</a:t>
            </a: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Ağırlıklı Yönsüz Graf, Komşuluk Listesi ile temsil edilir.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232074" y="1519312"/>
            <a:ext cx="3214390" cy="555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Neden Komşuluk Listesi?</a:t>
            </a: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Şehir sayısı (V=5) azdır fakat her şehir yalnızca birkaç komşuya sahiptir. Komşuluk matrisi bu durumda büyük ölçüde boş kalırdı ve V² bellek israf olurdu. Komşuluk listesi yalnızca var olan kenarları saklar: O(V + E) bellek.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32074" y="2138065"/>
            <a:ext cx="3214390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Sisteme Eklenen Şehirler (Düğümler):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32074" y="2340471"/>
            <a:ext cx="3214390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İstanbul, Ankara, İzmir, Bursa, Antalya, 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150" y="987400"/>
            <a:ext cx="3214390" cy="182143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232074" y="2967930"/>
            <a:ext cx="3304505" cy="571426"/>
          </a:xfrm>
          <a:prstGeom prst="roundRect">
            <a:avLst>
              <a:gd name="adj" fmla="val 2700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1349201" y="3085058"/>
            <a:ext cx="1321817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İstanbul </a:t>
            </a:r>
            <a:r>
              <a:rPr lang="en-US" sz="9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↔</a:t>
            </a: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Ankara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349201" y="3283446"/>
            <a:ext cx="3070250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454 km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607272" y="2967930"/>
            <a:ext cx="3304580" cy="571426"/>
          </a:xfrm>
          <a:prstGeom prst="roundRect">
            <a:avLst>
              <a:gd name="adj" fmla="val 2700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4724400" y="3085058"/>
            <a:ext cx="1228204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İstanbul </a:t>
            </a:r>
            <a:r>
              <a:rPr lang="en-US" sz="9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↔</a:t>
            </a: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Bursa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724400" y="3283446"/>
            <a:ext cx="3070324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154 km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232074" y="3610049"/>
            <a:ext cx="3304505" cy="571426"/>
          </a:xfrm>
          <a:prstGeom prst="roundRect">
            <a:avLst>
              <a:gd name="adj" fmla="val 2700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1349201" y="3727177"/>
            <a:ext cx="1210047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İstanbul </a:t>
            </a:r>
            <a:r>
              <a:rPr lang="en-US" sz="9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↔</a:t>
            </a: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İzmir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349201" y="3925565"/>
            <a:ext cx="3070250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483 km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607272" y="3610049"/>
            <a:ext cx="3304580" cy="571426"/>
          </a:xfrm>
          <a:prstGeom prst="roundRect">
            <a:avLst>
              <a:gd name="adj" fmla="val 2700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4724400" y="3727177"/>
            <a:ext cx="1305967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Ankara </a:t>
            </a:r>
            <a:r>
              <a:rPr lang="en-US" sz="9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↔</a:t>
            </a: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Antalya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24400" y="3925565"/>
            <a:ext cx="3070324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544 km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232074" y="4252168"/>
            <a:ext cx="3304505" cy="571426"/>
          </a:xfrm>
          <a:prstGeom prst="roundRect">
            <a:avLst>
              <a:gd name="adj" fmla="val 2700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19"/>
          <p:cNvSpPr/>
          <p:nvPr/>
        </p:nvSpPr>
        <p:spPr>
          <a:xfrm>
            <a:off x="1349201" y="4369296"/>
            <a:ext cx="1210047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Bursa </a:t>
            </a:r>
            <a:r>
              <a:rPr lang="en-US" sz="9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↔</a:t>
            </a: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İzmir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349201" y="4567684"/>
            <a:ext cx="3070250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330 km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607272" y="4252168"/>
            <a:ext cx="3304580" cy="571426"/>
          </a:xfrm>
          <a:prstGeom prst="roundRect">
            <a:avLst>
              <a:gd name="adj" fmla="val 2700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2"/>
          <p:cNvSpPr/>
          <p:nvPr/>
        </p:nvSpPr>
        <p:spPr>
          <a:xfrm>
            <a:off x="4724400" y="4369296"/>
            <a:ext cx="1210047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İzmir </a:t>
            </a:r>
            <a:r>
              <a:rPr lang="en-US" sz="9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↔</a:t>
            </a: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Antalya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724400" y="4567684"/>
            <a:ext cx="3070324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474 km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2074" y="304726"/>
            <a:ext cx="2685380" cy="3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Graf Gezinme: BFS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32074" y="635496"/>
            <a:ext cx="1512540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Breadth-First Search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232074" y="892746"/>
            <a:ext cx="6679778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Neden BFS?</a:t>
            </a: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Öğrenci numarasının sondan 2. rakamı </a:t>
            </a:r>
            <a:r>
              <a:rPr lang="en-US" sz="800" b="1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6</a:t>
            </a: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'dır → çift → </a:t>
            </a:r>
            <a:r>
              <a:rPr lang="en-US" sz="8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BFS</a:t>
            </a: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80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uygulanır</a:t>
            </a: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074" y="1111076"/>
            <a:ext cx="2226543" cy="4114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4914" y="1593205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Başlangıç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334914" y="1786830"/>
            <a:ext cx="2020863" cy="277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Başlangıç şehrini kuyruğa ekle, ziyaret edildi olarak işaretle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8617" y="1111076"/>
            <a:ext cx="2226618" cy="4114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61457" y="1593205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İşlem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561457" y="1786830"/>
            <a:ext cx="2020937" cy="416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Kuyruk boş olana kadar tekrarla: Kuyruğun önünden bir şehir çıkar, bu şehrin tüm komşularını tara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5234" y="1111076"/>
            <a:ext cx="2226543" cy="4114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88075" y="1593205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Bitiş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788075" y="1786830"/>
            <a:ext cx="2020863" cy="277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Ziyaret edilmemiş komşuyu kuyruğa ekle ve işaretle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232074" y="2385566"/>
            <a:ext cx="6679778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Karmaşıklık:</a:t>
            </a: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800" b="1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O(V + E)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1232074" y="2603897"/>
            <a:ext cx="6679778" cy="488975"/>
          </a:xfrm>
          <a:prstGeom prst="roundRect">
            <a:avLst>
              <a:gd name="adj" fmla="val 3155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4914" y="2747144"/>
            <a:ext cx="128513" cy="1028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66267" y="2700263"/>
            <a:ext cx="6242745" cy="277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BFS'in Lojistikte Anlamı:</a:t>
            </a:r>
            <a:r>
              <a:rPr lang="en-US" sz="8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BFS en az durak sayısına göre yol bulur. Mesafe (km) değil durak sayısı önceliklidir. Bu, aktarma noktası sayısını minimize etmek istenen kargo sistemleri için anlamlıdır.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1232074" y="3198912"/>
            <a:ext cx="1715839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İstanbul'dan BFS Çıktısı: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1232074" y="3764682"/>
            <a:ext cx="2179439" cy="637356"/>
          </a:xfrm>
          <a:prstGeom prst="roundRect">
            <a:avLst>
              <a:gd name="adj" fmla="val 2421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4"/>
          <p:cNvSpPr/>
          <p:nvPr/>
        </p:nvSpPr>
        <p:spPr>
          <a:xfrm>
            <a:off x="1246361" y="3778969"/>
            <a:ext cx="2150864" cy="102840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5"/>
          <p:cNvSpPr/>
          <p:nvPr/>
        </p:nvSpPr>
        <p:spPr>
          <a:xfrm>
            <a:off x="1349201" y="3952503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Katman 0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1349201" y="4146128"/>
            <a:ext cx="1945184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İstanbul (başlangıç)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3482206" y="3610421"/>
            <a:ext cx="2179439" cy="791617"/>
          </a:xfrm>
          <a:prstGeom prst="roundRect">
            <a:avLst>
              <a:gd name="adj" fmla="val 1949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18"/>
          <p:cNvSpPr/>
          <p:nvPr/>
        </p:nvSpPr>
        <p:spPr>
          <a:xfrm>
            <a:off x="3496494" y="3624709"/>
            <a:ext cx="2150864" cy="102840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19"/>
          <p:cNvSpPr/>
          <p:nvPr/>
        </p:nvSpPr>
        <p:spPr>
          <a:xfrm>
            <a:off x="3599334" y="3798243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Katman 1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599334" y="3991868"/>
            <a:ext cx="1945184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Ankara, Bursa, İzmir (1 durak)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5732338" y="3456161"/>
            <a:ext cx="2179439" cy="945877"/>
          </a:xfrm>
          <a:prstGeom prst="roundRect">
            <a:avLst>
              <a:gd name="adj" fmla="val 1631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2"/>
          <p:cNvSpPr/>
          <p:nvPr/>
        </p:nvSpPr>
        <p:spPr>
          <a:xfrm>
            <a:off x="5746626" y="3470449"/>
            <a:ext cx="2150864" cy="102840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3"/>
          <p:cNvSpPr/>
          <p:nvPr/>
        </p:nvSpPr>
        <p:spPr>
          <a:xfrm>
            <a:off x="5849466" y="3643982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Katman 2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849466" y="3837608"/>
            <a:ext cx="1945184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Antalya (2 durak)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1232074" y="4481587"/>
            <a:ext cx="6679778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İstanbul → Antalya En Kısa Yol (BFS):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232074" y="4699918"/>
            <a:ext cx="6679778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İstanbul → Bursa→ Antalya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538" y="385167"/>
            <a:ext cx="3509963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Karmaşıklık Analizi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4538" y="1090985"/>
            <a:ext cx="1914153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Hash Tablosu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74538" y="1379339"/>
            <a:ext cx="2019374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Tip A + Linear Probing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74538" y="1716956"/>
            <a:ext cx="3932113" cy="1827461"/>
          </a:xfrm>
          <a:prstGeom prst="roundRect">
            <a:avLst>
              <a:gd name="adj" fmla="val 111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79301" y="1721718"/>
            <a:ext cx="3922142" cy="3635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15330" y="1800151"/>
            <a:ext cx="1033686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İşlem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24943" y="1800151"/>
            <a:ext cx="1031304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Ortalama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32175" y="1800151"/>
            <a:ext cx="1033686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 Kötü Durum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9301" y="2085305"/>
            <a:ext cx="3922142" cy="3635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15330" y="2163738"/>
            <a:ext cx="1033686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Ekleme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24943" y="2163738"/>
            <a:ext cx="1031304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O(1)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32175" y="2163738"/>
            <a:ext cx="1033686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O(n)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9301" y="2448892"/>
            <a:ext cx="3922142" cy="3635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15330" y="2527325"/>
            <a:ext cx="1033686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Arama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24943" y="2527325"/>
            <a:ext cx="1031304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O(1)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32175" y="2527325"/>
            <a:ext cx="1033686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O(n)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9301" y="2812479"/>
            <a:ext cx="3922142" cy="3635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15330" y="2890912"/>
            <a:ext cx="1033686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Silme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24943" y="2890912"/>
            <a:ext cx="1031304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O(1)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32175" y="2890912"/>
            <a:ext cx="1033686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O(n)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9301" y="3176067"/>
            <a:ext cx="3922142" cy="3635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15330" y="3254499"/>
            <a:ext cx="1033686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Hash Hesaplama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924943" y="3254499"/>
            <a:ext cx="1031304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O(k)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32175" y="3254499"/>
            <a:ext cx="1033686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O(k)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4538" y="3682603"/>
            <a:ext cx="3932113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 kötü durum, tüm anahtarların aynı slota hash'lenmesi durumunda oluşur (teorik). İyi seçilmiş asal sayılar ve Polinom hash ile bu olasılık son derece düşüktür.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42111" y="1090985"/>
            <a:ext cx="1914153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Graf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42111" y="1379339"/>
            <a:ext cx="2154287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Komşuluk Listesi + BFS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42111" y="1716956"/>
            <a:ext cx="3932113" cy="2191048"/>
          </a:xfrm>
          <a:prstGeom prst="roundRect">
            <a:avLst>
              <a:gd name="adj" fmla="val 92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746873" y="1721718"/>
            <a:ext cx="3922588" cy="3635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882530" y="1800151"/>
            <a:ext cx="16877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İşlem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46168" y="1800151"/>
            <a:ext cx="16877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Karmaşıklık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46873" y="2085305"/>
            <a:ext cx="3922588" cy="3635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882530" y="2163738"/>
            <a:ext cx="16877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Şehir Ekleme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46168" y="2163738"/>
            <a:ext cx="16877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O(1)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46873" y="2448892"/>
            <a:ext cx="3922588" cy="3635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4882530" y="2527325"/>
            <a:ext cx="16877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Kenar Ekleme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46168" y="2527325"/>
            <a:ext cx="16877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O(1)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46873" y="2812479"/>
            <a:ext cx="3922588" cy="3635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4882530" y="2890912"/>
            <a:ext cx="16877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BFS Gezinme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46168" y="2890912"/>
            <a:ext cx="16877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O(V + E)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46873" y="3176067"/>
            <a:ext cx="3922588" cy="3635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4882530" y="3254499"/>
            <a:ext cx="16877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BFS Yol Bulma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846168" y="3254499"/>
            <a:ext cx="16877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O(V + E)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46873" y="3539654"/>
            <a:ext cx="3922588" cy="3635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4882530" y="3618086"/>
            <a:ext cx="16877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Bellek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846168" y="3618086"/>
            <a:ext cx="16877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O(V + E)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74538" y="4551536"/>
            <a:ext cx="819492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 = şehir sayısı, E = yol (kenar) sayısı, k = anahtar karakter uzunluğu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1025</Words>
  <Application>Microsoft Office PowerPoint</Application>
  <PresentationFormat>Ekran Gösterisi (16:9)</PresentationFormat>
  <Paragraphs>146</Paragraphs>
  <Slides>8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Unbounded Light</vt:lpstr>
      <vt:lpstr>Unbounded</vt:lpstr>
      <vt:lpstr>Arial</vt:lpstr>
      <vt:lpstr>Cabin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Enes Öztürk</cp:lastModifiedBy>
  <cp:revision>4</cp:revision>
  <dcterms:created xsi:type="dcterms:W3CDTF">2026-05-09T18:27:28Z</dcterms:created>
  <dcterms:modified xsi:type="dcterms:W3CDTF">2026-05-09T19:42:51Z</dcterms:modified>
</cp:coreProperties>
</file>